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728655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1F5F9"/>
                </a:solidFill>
              </a:defRPr>
            </a:pPr>
            <a:r>
              <a:t>RETAIL PULSE PREDICTION</a:t>
            </a:r>
          </a:p>
          <a:p>
            <a:pPr algn="ctr">
              <a:spcBef>
                <a:spcPts val="1000"/>
              </a:spcBef>
              <a:defRPr sz="2200" b="1">
                <a:solidFill>
                  <a:srgbClr val="06B6D4"/>
                </a:solidFill>
              </a:defRPr>
            </a:pPr>
            <a:r>
              <a:t>AI-Powered Retail Sales Forecasting &amp; Insights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295247" y="3017520"/>
            <a:ext cx="9601200" cy="32918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752447" y="3200400"/>
            <a:ext cx="86868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59E0B"/>
                </a:solidFill>
              </a:defRPr>
            </a:pPr>
            <a:r>
              <a:t>── PRESENTED BY ──</a:t>
            </a:r>
          </a:p>
          <a:p>
            <a:pPr algn="ctr">
              <a:spcBef>
                <a:spcPts val="800"/>
              </a:spcBef>
              <a:defRPr sz="1500" b="1">
                <a:solidFill>
                  <a:srgbClr val="F1F5F9"/>
                </a:solidFill>
              </a:defRPr>
            </a:pPr>
            <a:r>
              <a:t>Prince Umrao</a:t>
            </a:r>
          </a:p>
          <a:p>
            <a:pPr algn="ctr">
              <a:spcBef>
                <a:spcPts val="400"/>
              </a:spcBef>
              <a:defRPr sz="1500" b="1">
                <a:solidFill>
                  <a:srgbClr val="F1F5F9"/>
                </a:solidFill>
              </a:defRPr>
            </a:pPr>
            <a:r>
              <a:t>Raunak Kesharwani</a:t>
            </a:r>
          </a:p>
          <a:p>
            <a:pPr algn="ctr">
              <a:spcBef>
                <a:spcPts val="400"/>
              </a:spcBef>
              <a:defRPr sz="1500" b="1">
                <a:solidFill>
                  <a:srgbClr val="F1F5F9"/>
                </a:solidFill>
              </a:defRPr>
            </a:pPr>
            <a:r>
              <a:t>Vibhu Kumar</a:t>
            </a:r>
          </a:p>
          <a:p>
            <a:pPr algn="ctr">
              <a:spcBef>
                <a:spcPts val="400"/>
              </a:spcBef>
              <a:defRPr sz="1500" b="1">
                <a:solidFill>
                  <a:srgbClr val="F1F5F9"/>
                </a:solidFill>
              </a:defRPr>
            </a:pPr>
            <a:r>
              <a:t>Shubham Thakur</a:t>
            </a:r>
          </a:p>
          <a:p>
            <a:pPr algn="ctr">
              <a:spcBef>
                <a:spcPts val="1000"/>
              </a:spcBef>
              <a:defRPr sz="900">
                <a:solidFill>
                  <a:srgbClr val="06B6D4"/>
                </a:solidFill>
              </a:defRPr>
            </a:pPr>
            <a:r>
              <a:t>✦   ✦   ✦</a:t>
            </a:r>
          </a:p>
          <a:p>
            <a:pPr algn="ctr">
              <a:spcBef>
                <a:spcPts val="800"/>
              </a:spcBef>
              <a:defRPr sz="1400" b="1">
                <a:solidFill>
                  <a:srgbClr val="06B6D4"/>
                </a:solidFill>
              </a:defRPr>
            </a:pPr>
            <a:r>
              <a:t>B.Tech – Computer Science Engineering</a:t>
            </a:r>
          </a:p>
          <a:p>
            <a:pPr algn="ctr">
              <a:spcBef>
                <a:spcPts val="400"/>
              </a:spcBef>
              <a:defRPr sz="1600" b="1">
                <a:solidFill>
                  <a:srgbClr val="F1F5F9"/>
                </a:solidFill>
              </a:defRPr>
            </a:pPr>
            <a:r>
              <a:t>Lamrin Tech Skills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RETAIL PULSE PREDICTION  |  AI SALES FORECASTING &amp; INVENTORY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1F5F9"/>
                </a:solidFill>
              </a:defRPr>
            </a:pPr>
            <a:r>
              <a:t>The Retail Dilemma: The Hidden Cost of Stock-Outs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28416" cy="44805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2962656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4D4D"/>
                </a:solidFill>
              </a:defRPr>
            </a:pPr>
            <a:r>
              <a:t>⚠️ Empty Shelves Crisis</a:t>
            </a:r>
          </a:p>
          <a:p>
            <a:pPr>
              <a:spcBef>
                <a:spcPts val="1200"/>
              </a:spcBef>
              <a:defRPr sz="1200">
                <a:solidFill>
                  <a:srgbClr val="94A3B8"/>
                </a:solidFill>
              </a:defRPr>
            </a:pPr>
            <a:r>
              <a:t>• Lost Direct Sales: When an item is out of stock, 31% of shoppers switch stores immediately.</a:t>
            </a:r>
          </a:p>
          <a:p>
            <a:pPr>
              <a:spcBef>
                <a:spcPts val="1200"/>
              </a:spcBef>
              <a:defRPr sz="1200">
                <a:solidFill>
                  <a:srgbClr val="94A3B8"/>
                </a:solidFill>
              </a:defRPr>
            </a:pPr>
            <a:r>
              <a:t>• Brand Churn: Customer satisfaction drops drastically; repeated stockouts permanently drive buyers to competitors.</a:t>
            </a:r>
          </a:p>
          <a:p>
            <a:pPr>
              <a:spcBef>
                <a:spcPts val="1200"/>
              </a:spcBef>
              <a:defRPr sz="1200">
                <a:solidFill>
                  <a:srgbClr val="94A3B8"/>
                </a:solidFill>
              </a:defRPr>
            </a:pPr>
            <a:r>
              <a:t>• Emergency Logistics: Rush ordering and air freight to restock depleted items skyrocket operational expenditure.</a:t>
            </a:r>
          </a:p>
          <a:p>
            <a:pPr>
              <a:spcBef>
                <a:spcPts val="1200"/>
              </a:spcBef>
              <a:defRPr sz="1200">
                <a:solidFill>
                  <a:srgbClr val="94A3B8"/>
                </a:solidFill>
              </a:defRPr>
            </a:pPr>
            <a:r>
              <a:t>• Distorted Demand Signals: When products aren't available, true customer demand data is masked and lost.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25696" y="1645920"/>
            <a:ext cx="3328416" cy="44805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08576" y="1828800"/>
            <a:ext cx="2962656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59E0B"/>
                </a:solidFill>
              </a:defRPr>
            </a:pPr>
            <a:r>
              <a:t>⏱️ The Reactive Trap</a:t>
            </a:r>
          </a:p>
          <a:p>
            <a:pPr>
              <a:spcBef>
                <a:spcPts val="1200"/>
              </a:spcBef>
              <a:defRPr sz="1200">
                <a:solidFill>
                  <a:srgbClr val="94A3B8"/>
                </a:solidFill>
              </a:defRPr>
            </a:pPr>
            <a:r>
              <a:t>• Lagging Indicators: Most ERPs and inventory spreadsheets only alert managers AFTER stock hits zero.</a:t>
            </a:r>
          </a:p>
          <a:p>
            <a:pPr>
              <a:spcBef>
                <a:spcPts val="1200"/>
              </a:spcBef>
              <a:defRPr sz="1200">
                <a:solidFill>
                  <a:srgbClr val="94A3B8"/>
                </a:solidFill>
              </a:defRPr>
            </a:pPr>
            <a:r>
              <a:t>• Static Thresholds: Fixed reorder points fail to adjust for velocity spikes, weekend sales surges, or seasonality.</a:t>
            </a:r>
          </a:p>
          <a:p>
            <a:pPr>
              <a:spcBef>
                <a:spcPts val="1200"/>
              </a:spcBef>
              <a:defRPr sz="1200">
                <a:solidFill>
                  <a:srgbClr val="94A3B8"/>
                </a:solidFill>
              </a:defRPr>
            </a:pPr>
            <a:r>
              <a:t>• Manual Oversight: Managing 50,000+ SKUs manually in spreadsheets leads to human error and overlooked risks.</a:t>
            </a:r>
          </a:p>
          <a:p>
            <a:pPr>
              <a:spcBef>
                <a:spcPts val="1200"/>
              </a:spcBef>
              <a:defRPr sz="1200">
                <a:solidFill>
                  <a:srgbClr val="94A3B8"/>
                </a:solidFill>
              </a:defRPr>
            </a:pPr>
            <a:r>
              <a:t>• Overstocking Counter-Effect: To compensate, managers overbuy slow-moving stock, freezing working capital.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1645920"/>
            <a:ext cx="3328416" cy="44805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02752" y="1828800"/>
            <a:ext cx="2962656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6B6D4"/>
                </a:solidFill>
              </a:defRPr>
            </a:pPr>
            <a:r>
              <a:t>🚀 Proactive Intelligence</a:t>
            </a:r>
          </a:p>
          <a:p>
            <a:pPr>
              <a:spcBef>
                <a:spcPts val="1200"/>
              </a:spcBef>
              <a:defRPr sz="1200">
                <a:solidFill>
                  <a:srgbClr val="94A3B8"/>
                </a:solidFill>
              </a:defRPr>
            </a:pPr>
            <a:r>
              <a:t>• Predictive Modeling: Employs Scikit-Learn ML models trained on sales patterns to anticipate stock depletion days ahead.</a:t>
            </a:r>
          </a:p>
          <a:p>
            <a:pPr>
              <a:spcBef>
                <a:spcPts val="1200"/>
              </a:spcBef>
              <a:defRPr sz="1200">
                <a:solidFill>
                  <a:srgbClr val="94A3B8"/>
                </a:solidFill>
              </a:defRPr>
            </a:pPr>
            <a:r>
              <a:t>• Dynamic Runway Analysis: Computes real-time 'Days Left' based on rolling 7-day sales velocities.</a:t>
            </a:r>
          </a:p>
          <a:p>
            <a:pPr>
              <a:spcBef>
                <a:spcPts val="1200"/>
              </a:spcBef>
              <a:defRPr sz="1200">
                <a:solidFill>
                  <a:srgbClr val="94A3B8"/>
                </a:solidFill>
              </a:defRPr>
            </a:pPr>
            <a:r>
              <a:t>• Automated Triage: Segregates safe inventory from critical stockout emergencies instantly in bulk.</a:t>
            </a:r>
          </a:p>
          <a:p>
            <a:pPr>
              <a:spcBef>
                <a:spcPts val="1200"/>
              </a:spcBef>
              <a:defRPr sz="1200">
                <a:solidFill>
                  <a:srgbClr val="94A3B8"/>
                </a:solidFill>
              </a:defRPr>
            </a:pPr>
            <a:r>
              <a:t>• Actionable Timeliness: Gives procurement teams the exact window needed to restock before shelves empty.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RETAIL PULSE PREDICTION  |  AI SALES FORECASTING &amp; INVENTORY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1F5F9"/>
                </a:solidFill>
              </a:defRPr>
            </a:pPr>
            <a:r>
              <a:t>Retail Pulse at a Glance: The Complete Value Proposition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468880" cy="18288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2194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BULK CSV INGESTION</a:t>
            </a:r>
          </a:p>
          <a:p>
            <a:pPr>
              <a:spcBef>
                <a:spcPts val="400"/>
              </a:spcBef>
              <a:defRPr sz="2200" b="1">
                <a:solidFill>
                  <a:srgbClr val="F1F5F9"/>
                </a:solidFill>
              </a:defRPr>
            </a:pPr>
            <a:r>
              <a:t>50,000+ SKUs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Instantly parses entire catalog rows with auto-detected columns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83864" y="1645920"/>
            <a:ext cx="2468880" cy="18288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21024" y="1737360"/>
            <a:ext cx="2194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ML RISK PREDICTION</a:t>
            </a:r>
          </a:p>
          <a:p>
            <a:pPr>
              <a:spcBef>
                <a:spcPts val="400"/>
              </a:spcBef>
              <a:defRPr sz="2200" b="1">
                <a:solidFill>
                  <a:srgbClr val="F1F5F9"/>
                </a:solidFill>
              </a:defRPr>
            </a:pPr>
            <a:r>
              <a:t>&lt; 100ms / Item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Random Forest / Classifier inference with risk probability scoring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6208" y="1645920"/>
            <a:ext cx="2468880" cy="18288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73368" y="1737360"/>
            <a:ext cx="2194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8A745"/>
                </a:solidFill>
              </a:defRPr>
            </a:pPr>
            <a:r>
              <a:t>STOCKOUT RUNWAY</a:t>
            </a:r>
          </a:p>
          <a:p>
            <a:pPr>
              <a:spcBef>
                <a:spcPts val="400"/>
              </a:spcBef>
              <a:defRPr sz="2200" b="1">
                <a:solidFill>
                  <a:srgbClr val="F1F5F9"/>
                </a:solidFill>
              </a:defRPr>
            </a:pPr>
            <a:r>
              <a:t>Days-Left Metric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Dynamic depletion estimation using 7-day rolling sales trends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88552" y="1645920"/>
            <a:ext cx="2468880" cy="18288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25712" y="1737360"/>
            <a:ext cx="2194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4D4D"/>
                </a:solidFill>
              </a:defRPr>
            </a:pPr>
            <a:r>
              <a:t>DECISION SPEED</a:t>
            </a:r>
          </a:p>
          <a:p>
            <a:pPr>
              <a:spcBef>
                <a:spcPts val="400"/>
              </a:spcBef>
              <a:defRPr sz="2200" b="1">
                <a:solidFill>
                  <a:srgbClr val="F1F5F9"/>
                </a:solidFill>
              </a:defRPr>
            </a:pPr>
            <a:r>
              <a:t>10x Faster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Replaces manual auditing with color-coded triage and charts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749039"/>
            <a:ext cx="5212080" cy="24688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886200"/>
            <a:ext cx="48463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6B6D4"/>
                </a:solidFill>
              </a:defRPr>
            </a:pPr>
            <a:r>
              <a:t>🎯 What Retail Pulse Solves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Eliminates Blind Spots: Supermarkets and retail chains sell thousands of SKUs; high-velocity items can vanish in hours.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Prevents Over-Stocking &amp; Under-Stocking: Balances optimal holding costs with zero stock-out downtime.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Empowers Store Operators: No data science expertise needed; intuitive UI shows red/green statuses and top 5 urgent items.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48095" y="3749039"/>
            <a:ext cx="5212080" cy="24688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30975" y="3886200"/>
            <a:ext cx="48463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8A745"/>
                </a:solidFill>
              </a:defRPr>
            </a:pPr>
            <a:r>
              <a:t>💡 Operational Paradigm Shift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From Retrospective to Predictive: Shifts management focus from 'What ran out yesterday?' to 'What will run out on Friday?'.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Unified Workflow: Drag-and-drop .pkl ML model + transaction CSV -&gt; Instant prioritized restock action list.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Lightweight &amp; Zero-Setup: Runs in any modern browser without heavy server infrastructure, ready for edge retail terminals.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RETAIL PULSE PREDICTION  |  AI SALES FORECASTING &amp; INVENTORY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1F5F9"/>
                </a:solidFill>
              </a:defRPr>
            </a:pPr>
            <a:r>
              <a:t>System Architecture: End-to-End Data &amp; ML Pipeline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468880" cy="45720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2468880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28800"/>
            <a:ext cx="21945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6B6D4"/>
                </a:solidFill>
              </a:defRPr>
            </a:pPr>
            <a:r>
              <a:t>1. Data Ingestion</a:t>
            </a:r>
          </a:p>
          <a:p>
            <a:pPr>
              <a:spcBef>
                <a:spcPts val="400"/>
              </a:spcBef>
              <a:defRPr sz="1500" b="1">
                <a:solidFill>
                  <a:srgbClr val="F1F5F9"/>
                </a:solidFill>
              </a:defRPr>
            </a:pPr>
            <a:r>
              <a:t>CSV Upload Engine</a:t>
            </a:r>
          </a:p>
          <a:p>
            <a:pPr>
              <a:spcBef>
                <a:spcPts val="1200"/>
              </a:spcBef>
              <a:defRPr sz="1100">
                <a:solidFill>
                  <a:srgbClr val="94A3B8"/>
                </a:solidFill>
              </a:defRPr>
            </a:pPr>
            <a:r>
              <a:t>• Accepts raw transaction logs &amp; inventory datasets</a:t>
            </a:r>
          </a:p>
          <a:p>
            <a:pPr>
              <a:spcBef>
                <a:spcPts val="1200"/>
              </a:spcBef>
              <a:defRPr sz="1100">
                <a:solidFill>
                  <a:srgbClr val="94A3B8"/>
                </a:solidFill>
              </a:defRPr>
            </a:pPr>
            <a:r>
              <a:t>• Auto-detects columns (Product, Sales, Stock, 7d Avg)</a:t>
            </a:r>
          </a:p>
          <a:p>
            <a:pPr>
              <a:spcBef>
                <a:spcPts val="1200"/>
              </a:spcBef>
              <a:defRPr sz="1100">
                <a:solidFill>
                  <a:srgbClr val="94A3B8"/>
                </a:solidFill>
              </a:defRPr>
            </a:pPr>
            <a:r>
              <a:t>• Supports 50k+ row datasets (e.g. retail_data_cleaned_final.csv)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83864" y="1645920"/>
            <a:ext cx="2468880" cy="45720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83864" y="1645920"/>
            <a:ext cx="246888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21024" y="1828800"/>
            <a:ext cx="21945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59E0B"/>
                </a:solidFill>
              </a:defRPr>
            </a:pPr>
            <a:r>
              <a:t>2. Feature Processing</a:t>
            </a:r>
          </a:p>
          <a:p>
            <a:pPr>
              <a:spcBef>
                <a:spcPts val="400"/>
              </a:spcBef>
              <a:defRPr sz="1500" b="1">
                <a:solidFill>
                  <a:srgbClr val="F1F5F9"/>
                </a:solidFill>
              </a:defRPr>
            </a:pPr>
            <a:r>
              <a:t>Velocity &amp; Runway Math</a:t>
            </a:r>
          </a:p>
          <a:p>
            <a:pPr>
              <a:spcBef>
                <a:spcPts val="1200"/>
              </a:spcBef>
              <a:defRPr sz="1100">
                <a:solidFill>
                  <a:srgbClr val="94A3B8"/>
                </a:solidFill>
              </a:defRPr>
            </a:pPr>
            <a:r>
              <a:t>• Computes Days Left = Stock / Avg Sales (7d)</a:t>
            </a:r>
          </a:p>
          <a:p>
            <a:pPr>
              <a:spcBef>
                <a:spcPts val="1200"/>
              </a:spcBef>
              <a:defRPr sz="1100">
                <a:solidFill>
                  <a:srgbClr val="94A3B8"/>
                </a:solidFill>
              </a:defRPr>
            </a:pPr>
            <a:r>
              <a:t>• Calculates Sales Velocity = Sales / Avg Sales</a:t>
            </a:r>
          </a:p>
          <a:p>
            <a:pPr>
              <a:spcBef>
                <a:spcPts val="1200"/>
              </a:spcBef>
              <a:defRPr sz="1100">
                <a:solidFill>
                  <a:srgbClr val="94A3B8"/>
                </a:solidFill>
              </a:defRPr>
            </a:pPr>
            <a:r>
              <a:t>• Evaluates Stock-to-Sales Cover Ratio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6208" y="1645920"/>
            <a:ext cx="2468880" cy="45720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6208" y="1645920"/>
            <a:ext cx="2468880" cy="73152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73368" y="1828800"/>
            <a:ext cx="21945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8A745"/>
                </a:solidFill>
              </a:defRPr>
            </a:pPr>
            <a:r>
              <a:t>3. Model Inference</a:t>
            </a:r>
          </a:p>
          <a:p>
            <a:pPr>
              <a:spcBef>
                <a:spcPts val="400"/>
              </a:spcBef>
              <a:defRPr sz="1500" b="1">
                <a:solidFill>
                  <a:srgbClr val="F1F5F9"/>
                </a:solidFill>
              </a:defRPr>
            </a:pPr>
            <a:r>
              <a:t>Scikit-Learn ML Core</a:t>
            </a:r>
          </a:p>
          <a:p>
            <a:pPr>
              <a:spcBef>
                <a:spcPts val="1200"/>
              </a:spcBef>
              <a:defRPr sz="1100">
                <a:solidFill>
                  <a:srgbClr val="94A3B8"/>
                </a:solidFill>
              </a:defRPr>
            </a:pPr>
            <a:r>
              <a:t>• Executes Random Forest / Decision Tree classification</a:t>
            </a:r>
          </a:p>
          <a:p>
            <a:pPr>
              <a:spcBef>
                <a:spcPts val="1200"/>
              </a:spcBef>
              <a:defRPr sz="1100">
                <a:solidFill>
                  <a:srgbClr val="94A3B8"/>
                </a:solidFill>
              </a:defRPr>
            </a:pPr>
            <a:r>
              <a:t>• Generates Stock-Out Probability (0.0 to 1.0)</a:t>
            </a:r>
          </a:p>
          <a:p>
            <a:pPr>
              <a:spcBef>
                <a:spcPts val="1200"/>
              </a:spcBef>
              <a:defRPr sz="1100">
                <a:solidFill>
                  <a:srgbClr val="94A3B8"/>
                </a:solidFill>
              </a:defRPr>
            </a:pPr>
            <a:r>
              <a:t>• Classifies binary risk: Safe (0) vs High Risk (1)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88552" y="1645920"/>
            <a:ext cx="2468880" cy="45720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988552" y="1645920"/>
            <a:ext cx="2468880" cy="73152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25712" y="1828800"/>
            <a:ext cx="21945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4D4D"/>
                </a:solidFill>
              </a:defRPr>
            </a:pPr>
            <a:r>
              <a:t>4. Executive Dashboard</a:t>
            </a:r>
          </a:p>
          <a:p>
            <a:pPr>
              <a:spcBef>
                <a:spcPts val="400"/>
              </a:spcBef>
              <a:defRPr sz="1500" b="1">
                <a:solidFill>
                  <a:srgbClr val="F1F5F9"/>
                </a:solidFill>
              </a:defRPr>
            </a:pPr>
            <a:r>
              <a:t>Visual Triage UI</a:t>
            </a:r>
          </a:p>
          <a:p>
            <a:pPr>
              <a:spcBef>
                <a:spcPts val="1200"/>
              </a:spcBef>
              <a:defRPr sz="1100">
                <a:solidFill>
                  <a:srgbClr val="94A3B8"/>
                </a:solidFill>
              </a:defRPr>
            </a:pPr>
            <a:r>
              <a:t>• Displays High-Risk alert counters &amp; risk percentage</a:t>
            </a:r>
          </a:p>
          <a:p>
            <a:pPr>
              <a:spcBef>
                <a:spcPts val="1200"/>
              </a:spcBef>
              <a:defRPr sz="1100">
                <a:solidFill>
                  <a:srgbClr val="94A3B8"/>
                </a:solidFill>
              </a:defRPr>
            </a:pPr>
            <a:r>
              <a:t>• Renders Chart.js risk breakdown &amp; days-left charts</a:t>
            </a:r>
          </a:p>
          <a:p>
            <a:pPr>
              <a:spcBef>
                <a:spcPts val="1200"/>
              </a:spcBef>
              <a:defRPr sz="1100">
                <a:solidFill>
                  <a:srgbClr val="94A3B8"/>
                </a:solidFill>
              </a:defRPr>
            </a:pPr>
            <a:r>
              <a:t>• Highlights Top 5 critical items needing immediate restock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RETAIL PULSE PREDICTION  |  AI SALES FORECASTING &amp; INVENTORY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1F5F9"/>
                </a:solidFill>
              </a:defRPr>
            </a:pPr>
            <a:r>
              <a:t>The Intelligence Engine: Feature Engineering &amp; ML Formulation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6B6D4"/>
                </a:solidFill>
              </a:defRPr>
            </a:pPr>
            <a:r>
              <a:t>📐 Mathematical Formulation</a:t>
            </a:r>
          </a:p>
          <a:p>
            <a:pPr>
              <a:spcBef>
                <a:spcPts val="1000"/>
              </a:spcBef>
              <a:defRPr sz="1300" b="1">
                <a:solidFill>
                  <a:srgbClr val="F1F5F9"/>
                </a:solidFill>
              </a:defRPr>
            </a:pPr>
            <a:r>
              <a:t>1. Days of Stock Remaining (Runway):</a:t>
            </a:r>
          </a:p>
          <a:p>
            <a:pPr>
              <a:spcBef>
                <a:spcPts val="200"/>
              </a:spcBef>
              <a:defRPr sz="1200">
                <a:solidFill>
                  <a:srgbClr val="F59E0B"/>
                </a:solidFill>
              </a:defRPr>
            </a:pPr>
            <a:r>
              <a:t>   Days Left = Current Stock / max(Avg Sales [7-day], 0.01)</a:t>
            </a:r>
          </a:p>
          <a:p>
            <a:pPr>
              <a:spcBef>
                <a:spcPts val="1000"/>
              </a:spcBef>
              <a:defRPr sz="1300" b="1">
                <a:solidFill>
                  <a:srgbClr val="F1F5F9"/>
                </a:solidFill>
              </a:defRPr>
            </a:pPr>
            <a:r>
              <a:t>2. Sales Velocity Factor:</a:t>
            </a:r>
          </a:p>
          <a:p>
            <a:pPr>
              <a:spcBef>
                <a:spcPts val="200"/>
              </a:spcBef>
              <a:defRPr sz="1200">
                <a:solidFill>
                  <a:srgbClr val="F59E0B"/>
                </a:solidFill>
              </a:defRPr>
            </a:pPr>
            <a:r>
              <a:t>   Velocity = Current Sales / max(Avg Sales [7-day], 0.01)</a:t>
            </a:r>
          </a:p>
          <a:p>
            <a:pPr>
              <a:spcBef>
                <a:spcPts val="1000"/>
              </a:spcBef>
              <a:defRPr sz="1300" b="1">
                <a:solidFill>
                  <a:srgbClr val="F1F5F9"/>
                </a:solidFill>
              </a:defRPr>
            </a:pPr>
            <a:r>
              <a:t>3. Stock-to-Sales Cover Ratio:</a:t>
            </a:r>
          </a:p>
          <a:p>
            <a:pPr>
              <a:spcBef>
                <a:spcPts val="200"/>
              </a:spcBef>
              <a:defRPr sz="1200">
                <a:solidFill>
                  <a:srgbClr val="F59E0B"/>
                </a:solidFill>
              </a:defRPr>
            </a:pPr>
            <a:r>
              <a:t>   Cover Ratio = Current Stock / max(Current Sales, 0.01)</a:t>
            </a:r>
          </a:p>
          <a:p>
            <a:pPr>
              <a:spcBef>
                <a:spcPts val="1200"/>
              </a:spcBef>
              <a:defRPr sz="1100">
                <a:solidFill>
                  <a:srgbClr val="94A3B8"/>
                </a:solidFill>
              </a:defRPr>
            </a:pPr>
            <a:r>
              <a:t>Threshold Rules: Days Left &lt;= 3d triggers immediate critical priority; velocity &gt; 1.4x signals rapid demand acceleration.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48095" y="1645920"/>
            <a:ext cx="5212080" cy="45720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30975" y="182880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8A745"/>
                </a:solidFill>
              </a:defRPr>
            </a:pPr>
            <a:r>
              <a:t>🤖 Model Architecture &amp; Classification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</a:defRPr>
            </a:pPr>
            <a:r>
              <a:t>• Algorithm: Random Forest &amp; Decision Tree Classifiers trained on historical retail transactions and stockouts.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</a:defRPr>
            </a:pPr>
            <a:r>
              <a:t>• Target Output (Binary): </a:t>
            </a:r>
            <a:br/>
            <a:r>
              <a:t>  • Class 0 (Safe): Inventory runway &gt;= 7 days with steady demand.</a:t>
            </a:r>
            <a:br/>
            <a:r>
              <a:t>  • Class 1 (High Risk): Imminent stock exhaustion within replenishment lead time.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</a:defRPr>
            </a:pPr>
            <a:r>
              <a:t>• Probability Scoring: Calculates risk confidence score (0% to 100%) by evaluating runway, velocity, and stock coverage.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</a:defRPr>
            </a:pPr>
            <a:r>
              <a:t>• Model Portability: Exported as standardized .pkl / .joblib artifacts for instant drag-and-drop loading in client or backend API.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</a:defRPr>
            </a:pPr>
            <a:r>
              <a:t>• Robust Fallbacks: Handles zero-division safeguards and missing headers gracefully with dynamic pattern matching.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RETAIL PULSE PREDICTION  |  AI SALES FORECASTING &amp; INVENTORY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1F5F9"/>
                </a:solidFill>
              </a:defRPr>
            </a:pPr>
            <a:r>
              <a:t>Interactive Dashboard: High-Impact Decision Support UI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28416" cy="45720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296265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6B6D4"/>
                </a:solidFill>
              </a:defRPr>
            </a:pPr>
            <a:r>
              <a:t>🎨 Glassmorphic Dark UI</a:t>
            </a:r>
          </a:p>
          <a:p>
            <a:pPr>
              <a:spcBef>
                <a:spcPts val="1000"/>
              </a:spcBef>
              <a:defRPr sz="1200">
                <a:solidFill>
                  <a:srgbClr val="94A3B8"/>
                </a:solidFill>
              </a:defRPr>
            </a:pPr>
            <a:r>
              <a:t>• Space Grotesk &amp; DM Sans typography with high contrast visibility for warehouse &amp; ops managers.</a:t>
            </a:r>
          </a:p>
          <a:p>
            <a:pPr>
              <a:spcBef>
                <a:spcPts val="1000"/>
              </a:spcBef>
              <a:defRPr sz="1200">
                <a:solidFill>
                  <a:srgbClr val="94A3B8"/>
                </a:solidFill>
              </a:defRPr>
            </a:pPr>
            <a:r>
              <a:t>• Collapsible sidebar controls for drag-and-drop model (.pkl) &amp; bulk data (.csv) uploads.</a:t>
            </a:r>
          </a:p>
          <a:p>
            <a:pPr>
              <a:spcBef>
                <a:spcPts val="1000"/>
              </a:spcBef>
              <a:defRPr sz="1200">
                <a:solidFill>
                  <a:srgbClr val="94A3B8"/>
                </a:solidFill>
              </a:defRPr>
            </a:pPr>
            <a:r>
              <a:t>• Live status indicators (Connected/Disconnected) and animated atmospheric ambient background.</a:t>
            </a:r>
          </a:p>
          <a:p>
            <a:pPr>
              <a:spcBef>
                <a:spcPts val="1000"/>
              </a:spcBef>
              <a:defRPr sz="1200">
                <a:solidFill>
                  <a:srgbClr val="94A3B8"/>
                </a:solidFill>
              </a:defRPr>
            </a:pPr>
            <a:r>
              <a:t>• Responsive layout adapted for desktop monitors and tablet/mobile operational floor inspection.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25696" y="1645920"/>
            <a:ext cx="3328416" cy="45720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08576" y="1828800"/>
            <a:ext cx="296265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59E0B"/>
                </a:solidFill>
              </a:defRPr>
            </a:pPr>
            <a:r>
              <a:t>📊 Dynamic Visualizations</a:t>
            </a:r>
          </a:p>
          <a:p>
            <a:pPr>
              <a:spcBef>
                <a:spcPts val="1000"/>
              </a:spcBef>
              <a:defRPr sz="1200">
                <a:solidFill>
                  <a:srgbClr val="94A3B8"/>
                </a:solidFill>
              </a:defRPr>
            </a:pPr>
            <a:r>
              <a:t>• Risk Distribution Chart: Instant visual split between safe SKUs and stock-out hazards.</a:t>
            </a:r>
          </a:p>
          <a:p>
            <a:pPr>
              <a:spcBef>
                <a:spcPts val="1000"/>
              </a:spcBef>
              <a:defRPr sz="1200">
                <a:solidFill>
                  <a:srgbClr val="94A3B8"/>
                </a:solidFill>
              </a:defRPr>
            </a:pPr>
            <a:r>
              <a:t>• Days-Left Trend Chart: Ranks top 30 critical products by days of remaining inventory.</a:t>
            </a:r>
          </a:p>
          <a:p>
            <a:pPr>
              <a:spcBef>
                <a:spcPts val="1000"/>
              </a:spcBef>
              <a:defRPr sz="1200">
                <a:solidFill>
                  <a:srgbClr val="94A3B8"/>
                </a:solidFill>
              </a:defRPr>
            </a:pPr>
            <a:r>
              <a:t>• KPI Metric Counter: Live count of Total Products Analyzed, High Risk Alerts, and Safe Stock.</a:t>
            </a:r>
          </a:p>
          <a:p>
            <a:pPr>
              <a:spcBef>
                <a:spcPts val="1000"/>
              </a:spcBef>
              <a:defRPr sz="1200">
                <a:solidFill>
                  <a:srgbClr val="94A3B8"/>
                </a:solidFill>
              </a:defRPr>
            </a:pPr>
            <a:r>
              <a:t>• Overall Risk Rate Meter: Color-graduated percentage gauge showing catalog health.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1645920"/>
            <a:ext cx="3328416" cy="45720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02752" y="1828800"/>
            <a:ext cx="296265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4D4D"/>
                </a:solidFill>
              </a:defRPr>
            </a:pPr>
            <a:r>
              <a:t>⚡ Prioritized Risk Table</a:t>
            </a:r>
          </a:p>
          <a:p>
            <a:pPr>
              <a:spcBef>
                <a:spcPts val="1000"/>
              </a:spcBef>
              <a:defRPr sz="1200">
                <a:solidFill>
                  <a:srgbClr val="94A3B8"/>
                </a:solidFill>
              </a:defRPr>
            </a:pPr>
            <a:r>
              <a:t>• Automated Urgency Sorting: Automatically elevates high-risk items with shortest runways to the top.</a:t>
            </a:r>
          </a:p>
          <a:p>
            <a:pPr>
              <a:spcBef>
                <a:spcPts val="1000"/>
              </a:spcBef>
              <a:defRPr sz="1200">
                <a:solidFill>
                  <a:srgbClr val="94A3B8"/>
                </a:solidFill>
              </a:defRPr>
            </a:pPr>
            <a:r>
              <a:t>• TOP 5 Risky Badge: Distinct visual highlighting for the top 5 most vulnerable products.</a:t>
            </a:r>
          </a:p>
          <a:p>
            <a:pPr>
              <a:spcBef>
                <a:spcPts val="1000"/>
              </a:spcBef>
              <a:defRPr sz="1200">
                <a:solidFill>
                  <a:srgbClr val="94A3B8"/>
                </a:solidFill>
              </a:defRPr>
            </a:pPr>
            <a:r>
              <a:t>• Detailed Columns: Product Name, Sales, Available Stock, 7-Day Average, and Exact Days Left.</a:t>
            </a:r>
          </a:p>
          <a:p>
            <a:pPr>
              <a:spcBef>
                <a:spcPts val="1000"/>
              </a:spcBef>
              <a:defRPr sz="1200">
                <a:solidFill>
                  <a:srgbClr val="94A3B8"/>
                </a:solidFill>
              </a:defRPr>
            </a:pPr>
            <a:r>
              <a:t>• Color-coded Risk Dots: Instant red/green visual triage reducing cognitive fatigue during replenishment planning.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RETAIL PULSE PREDICTION  |  AI SALES FORECASTING &amp; INVENTORY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1F5F9"/>
                </a:solidFill>
              </a:defRPr>
            </a:pPr>
            <a:r>
              <a:t>Quantifiable Business Value &amp; ROI Impact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21488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484632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6B6D4"/>
                </a:solidFill>
              </a:defRPr>
            </a:pPr>
            <a:r>
              <a:t>💰 Revenue Preservation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Reduces stock-out lost sales by up to 35% through timely advance purchase orders.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Captures peak seasonal sales that traditional static threshold reorder points routinely miss.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48095" y="1645920"/>
            <a:ext cx="5212080" cy="21488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30975" y="1783080"/>
            <a:ext cx="484632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8A745"/>
                </a:solidFill>
              </a:defRPr>
            </a:pPr>
            <a:r>
              <a:t>📈 Customer Lifetime Value (LTV)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Prevents customer abandonment; 70%+ of retail shoppers who encounter repeated stockouts switch retailers.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Protects omnichannel trust and brand loyalty across online storefronts and physical branches.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069080"/>
            <a:ext cx="5212080" cy="21488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206240"/>
            <a:ext cx="484632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9E0B"/>
                </a:solidFill>
              </a:defRPr>
            </a:pPr>
            <a:r>
              <a:t>📦 Working Capital Optimization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Eliminates indiscriminate over-buffering; stops stores from locking cash into stagnant products.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Allows precision allocation of procurement budget to high-velocity, high-margin SKUs.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8095" y="4069080"/>
            <a:ext cx="5212080" cy="21488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30975" y="4206240"/>
            <a:ext cx="484632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4D4D"/>
                </a:solidFill>
              </a:defRPr>
            </a:pPr>
            <a:r>
              <a:t>⏱️ Operational Labor Efficiency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Saves hours of manual Excel collation and tedious stock auditing every week.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Generates instant restock priorities with one click, streamlining purchasing team workflows.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RETAIL PULSE PREDICTION  |  AI SALES FORECASTING &amp; INVENTORY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1F5F9"/>
                </a:solidFill>
              </a:defRPr>
            </a:pPr>
            <a:r>
              <a:t>Technology Stack &amp; Engineering Blueprint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468880" cy="45720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2468880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28800"/>
            <a:ext cx="21945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AI &amp; Machine Learning</a:t>
            </a:r>
          </a:p>
          <a:p>
            <a:pPr>
              <a:spcBef>
                <a:spcPts val="1200"/>
              </a:spcBef>
              <a:defRPr sz="1100">
                <a:solidFill>
                  <a:srgbClr val="94A3B8"/>
                </a:solidFill>
              </a:defRPr>
            </a:pPr>
            <a:r>
              <a:t>• Scikit-Learn (Random Forest &amp; Decision Trees)</a:t>
            </a:r>
          </a:p>
          <a:p>
            <a:pPr>
              <a:spcBef>
                <a:spcPts val="1200"/>
              </a:spcBef>
              <a:defRPr sz="1100">
                <a:solidFill>
                  <a:srgbClr val="94A3B8"/>
                </a:solidFill>
              </a:defRPr>
            </a:pPr>
            <a:r>
              <a:t>• Python 3.10 / Pandas (Data Cleaning &amp; Preprocessing)</a:t>
            </a:r>
          </a:p>
          <a:p>
            <a:pPr>
              <a:spcBef>
                <a:spcPts val="1200"/>
              </a:spcBef>
              <a:defRPr sz="1100">
                <a:solidFill>
                  <a:srgbClr val="94A3B8"/>
                </a:solidFill>
              </a:defRPr>
            </a:pPr>
            <a:r>
              <a:t>• Pickle / Joblib (.pkl Model Serialization)</a:t>
            </a:r>
          </a:p>
          <a:p>
            <a:pPr>
              <a:spcBef>
                <a:spcPts val="1200"/>
              </a:spcBef>
              <a:defRPr sz="1100">
                <a:solidFill>
                  <a:srgbClr val="94A3B8"/>
                </a:solidFill>
              </a:defRPr>
            </a:pPr>
            <a:r>
              <a:t>• Feature Engineering: 7-day Moving Averages, Velocity Ratios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83864" y="1645920"/>
            <a:ext cx="2468880" cy="45720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83864" y="1645920"/>
            <a:ext cx="246888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21024" y="1828800"/>
            <a:ext cx="21945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Interactive Frontend</a:t>
            </a:r>
          </a:p>
          <a:p>
            <a:pPr>
              <a:spcBef>
                <a:spcPts val="1200"/>
              </a:spcBef>
              <a:defRPr sz="1100">
                <a:solidFill>
                  <a:srgbClr val="94A3B8"/>
                </a:solidFill>
              </a:defRPr>
            </a:pPr>
            <a:r>
              <a:t>• Modern HTML5 &amp; Vanilla JavaScript (Zero bloated framework runtime)</a:t>
            </a:r>
          </a:p>
          <a:p>
            <a:pPr>
              <a:spcBef>
                <a:spcPts val="1200"/>
              </a:spcBef>
              <a:defRPr sz="1100">
                <a:solidFill>
                  <a:srgbClr val="94A3B8"/>
                </a:solidFill>
              </a:defRPr>
            </a:pPr>
            <a:r>
              <a:t>• Tailwind CSS (Utility-first dark theme &amp; micro-interactions)</a:t>
            </a:r>
          </a:p>
          <a:p>
            <a:pPr>
              <a:spcBef>
                <a:spcPts val="1200"/>
              </a:spcBef>
              <a:defRPr sz="1100">
                <a:solidFill>
                  <a:srgbClr val="94A3B8"/>
                </a:solidFill>
              </a:defRPr>
            </a:pPr>
            <a:r>
              <a:t>• Chart.js (Interactive Bar &amp; Trend Visualizations)</a:t>
            </a:r>
          </a:p>
          <a:p>
            <a:pPr>
              <a:spcBef>
                <a:spcPts val="1200"/>
              </a:spcBef>
              <a:defRPr sz="1100">
                <a:solidFill>
                  <a:srgbClr val="94A3B8"/>
                </a:solidFill>
              </a:defRPr>
            </a:pPr>
            <a:r>
              <a:t>• Google Fonts (Space Grotesk &amp; DM Sans typography)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6208" y="1645920"/>
            <a:ext cx="2468880" cy="45720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6208" y="1645920"/>
            <a:ext cx="2468880" cy="73152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73368" y="1828800"/>
            <a:ext cx="21945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8A745"/>
                </a:solidFill>
              </a:defRPr>
            </a:pPr>
            <a:r>
              <a:t>Data Handling &amp; Storage</a:t>
            </a:r>
          </a:p>
          <a:p>
            <a:pPr>
              <a:spcBef>
                <a:spcPts val="1200"/>
              </a:spcBef>
              <a:defRPr sz="1100">
                <a:solidFill>
                  <a:srgbClr val="94A3B8"/>
                </a:solidFill>
              </a:defRPr>
            </a:pPr>
            <a:r>
              <a:t>• Client-Side CSV Streaming Parser (Fast batch ingestion)</a:t>
            </a:r>
          </a:p>
          <a:p>
            <a:pPr>
              <a:spcBef>
                <a:spcPts val="1200"/>
              </a:spcBef>
              <a:defRPr sz="1100">
                <a:solidFill>
                  <a:srgbClr val="94A3B8"/>
                </a:solidFill>
              </a:defRPr>
            </a:pPr>
            <a:r>
              <a:t>• Retail Cleaned Dataset (58,600+ real transactions)</a:t>
            </a:r>
          </a:p>
          <a:p>
            <a:pPr>
              <a:spcBef>
                <a:spcPts val="1200"/>
              </a:spcBef>
              <a:defRPr sz="1100">
                <a:solidFill>
                  <a:srgbClr val="94A3B8"/>
                </a:solidFill>
              </a:defRPr>
            </a:pPr>
            <a:r>
              <a:t>• Smart Header Matcher (Auto-resolves sku, sales, stock columns)</a:t>
            </a:r>
          </a:p>
          <a:p>
            <a:pPr>
              <a:spcBef>
                <a:spcPts val="1200"/>
              </a:spcBef>
              <a:defRPr sz="1100">
                <a:solidFill>
                  <a:srgbClr val="94A3B8"/>
                </a:solidFill>
              </a:defRPr>
            </a:pPr>
            <a:r>
              <a:t>• Lightweight in-memory state engine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88552" y="1645920"/>
            <a:ext cx="2468880" cy="45720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988552" y="1645920"/>
            <a:ext cx="2468880" cy="7315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25712" y="1828800"/>
            <a:ext cx="21945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1F5F9"/>
                </a:solidFill>
              </a:defRPr>
            </a:pPr>
            <a:r>
              <a:t>Deployment &amp; Scalability</a:t>
            </a:r>
          </a:p>
          <a:p>
            <a:pPr>
              <a:spcBef>
                <a:spcPts val="1200"/>
              </a:spcBef>
              <a:defRPr sz="1100">
                <a:solidFill>
                  <a:srgbClr val="94A3B8"/>
                </a:solidFill>
              </a:defRPr>
            </a:pPr>
            <a:r>
              <a:t>• Serverless GitHub Pages Ready (Immediate web access)</a:t>
            </a:r>
          </a:p>
          <a:p>
            <a:pPr>
              <a:spcBef>
                <a:spcPts val="1200"/>
              </a:spcBef>
              <a:defRPr sz="1100">
                <a:solidFill>
                  <a:srgbClr val="94A3B8"/>
                </a:solidFill>
              </a:defRPr>
            </a:pPr>
            <a:r>
              <a:t>• REST API Extensible (/api/predict endpoint architecture)</a:t>
            </a:r>
          </a:p>
          <a:p>
            <a:pPr>
              <a:spcBef>
                <a:spcPts val="1200"/>
              </a:spcBef>
              <a:defRPr sz="1100">
                <a:solidFill>
                  <a:srgbClr val="94A3B8"/>
                </a:solidFill>
              </a:defRPr>
            </a:pPr>
            <a:r>
              <a:t>• Docker / Cloud Containerization capability</a:t>
            </a:r>
          </a:p>
          <a:p>
            <a:pPr>
              <a:spcBef>
                <a:spcPts val="1200"/>
              </a:spcBef>
              <a:defRPr sz="1100">
                <a:solidFill>
                  <a:srgbClr val="94A3B8"/>
                </a:solidFill>
              </a:defRPr>
            </a:pPr>
            <a:r>
              <a:t>• Cross-platform compatibility (Desktop, Tablet, POS edge)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RETAIL PULSE PREDICTION  |  AI SALES FORECASTING &amp; INVENTORY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1F5F9"/>
                </a:solidFill>
              </a:defRPr>
            </a:pPr>
            <a:r>
              <a:t>Future Roadmap: Scaling to Enterprise Supply Chains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468880" cy="45720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2468880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28800"/>
            <a:ext cx="21945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PHASE 1: CURRENT</a:t>
            </a:r>
          </a:p>
          <a:p>
            <a:pPr>
              <a:spcBef>
                <a:spcPts val="400"/>
              </a:spcBef>
              <a:defRPr sz="1400" b="1">
                <a:solidFill>
                  <a:srgbClr val="F1F5F9"/>
                </a:solidFill>
              </a:defRPr>
            </a:pPr>
            <a:r>
              <a:t>Prototype &amp; Core Engine</a:t>
            </a:r>
          </a:p>
          <a:p>
            <a:pPr>
              <a:spcBef>
                <a:spcPts val="1000"/>
              </a:spcBef>
              <a:defRPr sz="1100">
                <a:solidFill>
                  <a:srgbClr val="94A3B8"/>
                </a:solidFill>
              </a:defRPr>
            </a:pPr>
            <a:r>
              <a:t>• Bulk CSV prediction engine</a:t>
            </a:r>
          </a:p>
          <a:p>
            <a:pPr>
              <a:spcBef>
                <a:spcPts val="1000"/>
              </a:spcBef>
              <a:defRPr sz="1100">
                <a:solidFill>
                  <a:srgbClr val="94A3B8"/>
                </a:solidFill>
              </a:defRPr>
            </a:pPr>
            <a:r>
              <a:t>• .pkl model drag-and-drop loading</a:t>
            </a:r>
          </a:p>
          <a:p>
            <a:pPr>
              <a:spcBef>
                <a:spcPts val="1000"/>
              </a:spcBef>
              <a:defRPr sz="1100">
                <a:solidFill>
                  <a:srgbClr val="94A3B8"/>
                </a:solidFill>
              </a:defRPr>
            </a:pPr>
            <a:r>
              <a:t>• Interactive dashboard with charts</a:t>
            </a:r>
          </a:p>
          <a:p>
            <a:pPr>
              <a:spcBef>
                <a:spcPts val="1000"/>
              </a:spcBef>
              <a:defRPr sz="1100">
                <a:solidFill>
                  <a:srgbClr val="94A3B8"/>
                </a:solidFill>
              </a:defRPr>
            </a:pPr>
            <a:r>
              <a:t>• Top 5 urgency triage table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83864" y="1645920"/>
            <a:ext cx="2468880" cy="45720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83864" y="1645920"/>
            <a:ext cx="246888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21024" y="1828800"/>
            <a:ext cx="21945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PHASE 2: NEAR TERM</a:t>
            </a:r>
          </a:p>
          <a:p>
            <a:pPr>
              <a:spcBef>
                <a:spcPts val="400"/>
              </a:spcBef>
              <a:defRPr sz="1400" b="1">
                <a:solidFill>
                  <a:srgbClr val="F1F5F9"/>
                </a:solidFill>
              </a:defRPr>
            </a:pPr>
            <a:r>
              <a:t>Automated Alerting</a:t>
            </a:r>
          </a:p>
          <a:p>
            <a:pPr>
              <a:spcBef>
                <a:spcPts val="1000"/>
              </a:spcBef>
              <a:defRPr sz="1100">
                <a:solidFill>
                  <a:srgbClr val="94A3B8"/>
                </a:solidFill>
              </a:defRPr>
            </a:pPr>
            <a:r>
              <a:t>• WhatsApp &amp; Slack alert webhooks</a:t>
            </a:r>
          </a:p>
          <a:p>
            <a:pPr>
              <a:spcBef>
                <a:spcPts val="1000"/>
              </a:spcBef>
              <a:defRPr sz="1100">
                <a:solidFill>
                  <a:srgbClr val="94A3B8"/>
                </a:solidFill>
              </a:defRPr>
            </a:pPr>
            <a:r>
              <a:t>• Automated Email notifications to buyers</a:t>
            </a:r>
          </a:p>
          <a:p>
            <a:pPr>
              <a:spcBef>
                <a:spcPts val="1000"/>
              </a:spcBef>
              <a:defRPr sz="1100">
                <a:solidFill>
                  <a:srgbClr val="94A3B8"/>
                </a:solidFill>
              </a:defRPr>
            </a:pPr>
            <a:r>
              <a:t>• FastAPI backend with database storage</a:t>
            </a:r>
          </a:p>
          <a:p>
            <a:pPr>
              <a:spcBef>
                <a:spcPts val="1000"/>
              </a:spcBef>
              <a:defRPr sz="1100">
                <a:solidFill>
                  <a:srgbClr val="94A3B8"/>
                </a:solidFill>
              </a:defRPr>
            </a:pPr>
            <a:r>
              <a:t>• Multi-store / multi-warehouse aggregation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6208" y="1645920"/>
            <a:ext cx="2468880" cy="45720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6208" y="1645920"/>
            <a:ext cx="2468880" cy="73152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73368" y="1828800"/>
            <a:ext cx="21945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8A745"/>
                </a:solidFill>
              </a:defRPr>
            </a:pPr>
            <a:r>
              <a:t>PHASE 3: MID TERM</a:t>
            </a:r>
          </a:p>
          <a:p>
            <a:pPr>
              <a:spcBef>
                <a:spcPts val="400"/>
              </a:spcBef>
              <a:defRPr sz="1400" b="1">
                <a:solidFill>
                  <a:srgbClr val="F1F5F9"/>
                </a:solidFill>
              </a:defRPr>
            </a:pPr>
            <a:r>
              <a:t>Deep Supply Chain Sync</a:t>
            </a:r>
          </a:p>
          <a:p>
            <a:pPr>
              <a:spcBef>
                <a:spcPts val="1000"/>
              </a:spcBef>
              <a:defRPr sz="1100">
                <a:solidFill>
                  <a:srgbClr val="94A3B8"/>
                </a:solidFill>
              </a:defRPr>
            </a:pPr>
            <a:r>
              <a:t>• Direct ERP integration (SAP, Oracle, Shopify)</a:t>
            </a:r>
          </a:p>
          <a:p>
            <a:pPr>
              <a:spcBef>
                <a:spcPts val="1000"/>
              </a:spcBef>
              <a:defRPr sz="1100">
                <a:solidFill>
                  <a:srgbClr val="94A3B8"/>
                </a:solidFill>
              </a:defRPr>
            </a:pPr>
            <a:r>
              <a:t>• Auto-generate Restock Purchase Orders (PO)</a:t>
            </a:r>
          </a:p>
          <a:p>
            <a:pPr>
              <a:spcBef>
                <a:spcPts val="1000"/>
              </a:spcBef>
              <a:defRPr sz="1100">
                <a:solidFill>
                  <a:srgbClr val="94A3B8"/>
                </a:solidFill>
              </a:defRPr>
            </a:pPr>
            <a:r>
              <a:t>• Supplier Lead-Time tracking integration</a:t>
            </a:r>
          </a:p>
          <a:p>
            <a:pPr>
              <a:spcBef>
                <a:spcPts val="1000"/>
              </a:spcBef>
              <a:defRPr sz="1100">
                <a:solidFill>
                  <a:srgbClr val="94A3B8"/>
                </a:solidFill>
              </a:defRPr>
            </a:pPr>
            <a:r>
              <a:t>• Dynamic safety stock buffer calculator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88552" y="1645920"/>
            <a:ext cx="2468880" cy="45720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988552" y="1645920"/>
            <a:ext cx="2468880" cy="73152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25712" y="1828800"/>
            <a:ext cx="21945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4D4D"/>
                </a:solidFill>
              </a:defRPr>
            </a:pPr>
            <a:r>
              <a:t>PHASE 4: LONG TERM</a:t>
            </a:r>
          </a:p>
          <a:p>
            <a:pPr>
              <a:spcBef>
                <a:spcPts val="400"/>
              </a:spcBef>
              <a:defRPr sz="1400" b="1">
                <a:solidFill>
                  <a:srgbClr val="F1F5F9"/>
                </a:solidFill>
              </a:defRPr>
            </a:pPr>
            <a:r>
              <a:t>Advanced Deep Learning</a:t>
            </a:r>
          </a:p>
          <a:p>
            <a:pPr>
              <a:spcBef>
                <a:spcPts val="1000"/>
              </a:spcBef>
              <a:defRPr sz="1100">
                <a:solidFill>
                  <a:srgbClr val="94A3B8"/>
                </a:solidFill>
              </a:defRPr>
            </a:pPr>
            <a:r>
              <a:t>• Prophet / LSTM time-series demand forecasting</a:t>
            </a:r>
          </a:p>
          <a:p>
            <a:pPr>
              <a:spcBef>
                <a:spcPts val="1000"/>
              </a:spcBef>
              <a:defRPr sz="1100">
                <a:solidFill>
                  <a:srgbClr val="94A3B8"/>
                </a:solidFill>
              </a:defRPr>
            </a:pPr>
            <a:r>
              <a:t>• External factors (weather, festivals, promotions)</a:t>
            </a:r>
          </a:p>
          <a:p>
            <a:pPr>
              <a:spcBef>
                <a:spcPts val="1000"/>
              </a:spcBef>
              <a:defRPr sz="1100">
                <a:solidFill>
                  <a:srgbClr val="94A3B8"/>
                </a:solidFill>
              </a:defRPr>
            </a:pPr>
            <a:r>
              <a:t>• Cannibalization &amp; cross-elasticity modeling</a:t>
            </a:r>
          </a:p>
          <a:p>
            <a:pPr>
              <a:spcBef>
                <a:spcPts val="1000"/>
              </a:spcBef>
              <a:defRPr sz="1100">
                <a:solidFill>
                  <a:srgbClr val="94A3B8"/>
                </a:solidFill>
              </a:defRPr>
            </a:pPr>
            <a:r>
              <a:t>• Autonomous self-healing inventory network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914400"/>
            <a:ext cx="9997135" cy="50292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3040" y="1188720"/>
            <a:ext cx="926561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RETAIL PULSE</a:t>
            </a:r>
          </a:p>
          <a:p>
            <a:pPr>
              <a:spcBef>
                <a:spcPts val="1200"/>
              </a:spcBef>
              <a:defRPr sz="2400" b="1">
                <a:solidFill>
                  <a:srgbClr val="F1F5F9"/>
                </a:solidFill>
              </a:defRPr>
            </a:pPr>
            <a:r>
              <a:t>"We are not just predicting stock-outs; we are enabling proactive inventory intelligence."</a:t>
            </a:r>
          </a:p>
          <a:p>
            <a:pPr>
              <a:spcBef>
                <a:spcPts val="2000"/>
              </a:spcBef>
              <a:defRPr sz="1600" b="1">
                <a:solidFill>
                  <a:srgbClr val="06B6D4"/>
                </a:solidFill>
              </a:defRPr>
            </a:pPr>
            <a:r>
              <a:t>Key Takeaways: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</a:defRPr>
            </a:pPr>
            <a:r>
              <a:t>✔  Actionable Machine Learning: Transforms overwhelming transaction data into precise, prioritized replenishment decisions.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</a:defRPr>
            </a:pPr>
            <a:r>
              <a:t>✔  Zero Friction Adoption: Drag-and-drop model + CSV file processing; instant analysis without complex deployment hurdles.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</a:defRPr>
            </a:pPr>
            <a:r>
              <a:t>✔  Clear Business Impact: Eliminates lost sales, prevents stockouts, protects customer loyalty, and frees up tied working capital.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</a:defRPr>
            </a:pPr>
            <a:r>
              <a:t>✔  Enterprise-Ready Architecture: Built on modular Scikit-Learn logic, ready for API integration with enterprise ERP systems.</a:t>
            </a:r>
          </a:p>
          <a:p>
            <a:pPr>
              <a:spcBef>
                <a:spcPts val="2000"/>
              </a:spcBef>
              <a:defRPr sz="1300" b="1">
                <a:solidFill>
                  <a:srgbClr val="06B6D4"/>
                </a:solidFill>
              </a:defRPr>
            </a:pPr>
            <a:r>
              <a:t>Presented By: Prince Umrao  •  Raunak Kesharwani  •  Vibhu Kumar  •  Shubham Thakur</a:t>
            </a:r>
          </a:p>
          <a:p>
            <a:pPr>
              <a:spcBef>
                <a:spcPts val="400"/>
              </a:spcBef>
              <a:defRPr sz="1200">
                <a:solidFill>
                  <a:srgbClr val="F1F5F9"/>
                </a:solidFill>
              </a:defRPr>
            </a:pPr>
            <a:r>
              <a:t>B.Tech – Computer Science Engineering  |  Lamrin Tech Skills University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